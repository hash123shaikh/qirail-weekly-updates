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4CEDEC-1634-77B2-FCF4-068D24FE03B9}" v="56" dt="2025-12-18T06:04:39.919"/>
    <p1510:client id="{55297494-D5CB-B742-D1AF-EAD196BD704F}" v="76" dt="2025-12-18T06:33:05.563"/>
    <p1510:client id="{886CACD9-97CF-3078-44D7-307000561F6F}" v="31" dt="2025-12-18T07:00:53.087"/>
    <p1510:client id="{969AF0AB-6706-D401-548C-E22DAFE4BA56}" v="322" dt="2025-12-18T06:28:53.010"/>
    <p1510:client id="{DBFD9920-FA04-BCB3-BEED-963AE0106979}" v="189" dt="2025-12-18T06:40:58.647"/>
  </p1510:revLst>
</p1510:revInfo>
</file>

<file path=ppt/tableStyles.xml><?xml version="1.0" encoding="utf-8"?>
<a:tblStyleLst xmlns:a="http://schemas.openxmlformats.org/drawingml/2006/main" def="{0F6E0374-E33B-4860-B8C2-911FD7087E43}">
  <a:tblStyle styleId="{0F6E0374-E33B-4860-B8C2-911FD7087E4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ad34c9a01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3aad34c9a01_2_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g3aad34c9a01_2_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ad34c9a01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g3aad34c9a01_2_1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g3aad34c9a01_2_1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ad34c9a0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3aad34c9a01_0_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3aad34c9a01_0_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ad34c9a01_2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g3aad34c9a01_2_4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3aad34c9a01_2_4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ad34c9a01_2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3aad34c9a01_2_7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3aad34c9a01_2_7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d34c9a01_2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3aad34c9a01_2_9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aad34c9a01_2_9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ad34c9a01_2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3aad34c9a01_2_12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aad34c9a01_2_12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7377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/>
          <p:nvPr/>
        </p:nvSpPr>
        <p:spPr>
          <a:xfrm>
            <a:off x="957532" y="1581150"/>
            <a:ext cx="722878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lang="en" sz="5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Reproducibility Study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6"/>
          <p:cNvSpPr/>
          <p:nvPr/>
        </p:nvSpPr>
        <p:spPr>
          <a:xfrm>
            <a:off x="1340078" y="2571750"/>
            <a:ext cx="646384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lang="en" sz="22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CNN-Based Prognosis for Head and Neck Cancer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6"/>
          <p:cNvSpPr/>
          <p:nvPr/>
        </p:nvSpPr>
        <p:spPr>
          <a:xfrm>
            <a:off x="3222306" y="3295650"/>
            <a:ext cx="269923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lang="en" sz="13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Progress Update | December 202</a:t>
            </a:r>
            <a:r>
              <a:rPr lang="en" sz="1350">
                <a:solidFill>
                  <a:srgbClr val="FFFFFF"/>
                </a:solidFill>
              </a:rPr>
              <a:t>5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7CC0BA-49D1-B437-FF56-4D0EDCE6508E}"/>
              </a:ext>
            </a:extLst>
          </p:cNvPr>
          <p:cNvSpPr/>
          <p:nvPr/>
        </p:nvSpPr>
        <p:spPr>
          <a:xfrm>
            <a:off x="-1" y="3857623"/>
            <a:ext cx="9144001" cy="12858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4326554-D190-0551-BFD6-C34CCDF934F2}"/>
              </a:ext>
            </a:extLst>
          </p:cNvPr>
          <p:cNvSpPr txBox="1"/>
          <p:nvPr/>
        </p:nvSpPr>
        <p:spPr>
          <a:xfrm>
            <a:off x="256998" y="4017309"/>
            <a:ext cx="3316202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>
                <a:solidFill>
                  <a:srgbClr val="002060"/>
                </a:solidFill>
              </a:rPr>
              <a:t>By:</a:t>
            </a:r>
          </a:p>
          <a:p>
            <a:pPr algn="ctr"/>
            <a:r>
              <a:rPr lang="en-US" sz="1200" b="1">
                <a:solidFill>
                  <a:srgbClr val="002060"/>
                </a:solidFill>
              </a:rPr>
              <a:t>Hasan Shaikh</a:t>
            </a:r>
          </a:p>
          <a:p>
            <a:pPr algn="ctr"/>
            <a:r>
              <a:rPr lang="en-US" sz="1200" b="1">
                <a:solidFill>
                  <a:srgbClr val="002060"/>
                </a:solidFill>
              </a:rPr>
              <a:t>Quantitative Imaging Research and Artificial Intelligence Lab (QIRAIL)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1E410DB5-A658-DDDA-ADF9-4AF199F32D49}"/>
              </a:ext>
            </a:extLst>
          </p:cNvPr>
          <p:cNvSpPr txBox="1"/>
          <p:nvPr/>
        </p:nvSpPr>
        <p:spPr>
          <a:xfrm>
            <a:off x="5245680" y="4084544"/>
            <a:ext cx="3316202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>
                <a:solidFill>
                  <a:srgbClr val="002060"/>
                </a:solidFill>
              </a:rPr>
              <a:t>Under the guidance:</a:t>
            </a:r>
          </a:p>
          <a:p>
            <a:pPr algn="ctr"/>
            <a:r>
              <a:rPr lang="en-US" sz="1200" b="1">
                <a:solidFill>
                  <a:srgbClr val="002060"/>
                </a:solidFill>
              </a:rPr>
              <a:t>Dr. Hannah Mary Thomas T</a:t>
            </a:r>
          </a:p>
          <a:p>
            <a:pPr algn="ctr"/>
            <a:r>
              <a:rPr lang="en-US" sz="1200" b="1">
                <a:solidFill>
                  <a:srgbClr val="002060"/>
                </a:solidFill>
              </a:rPr>
              <a:t>Scientist, BMIU</a:t>
            </a:r>
          </a:p>
          <a:p>
            <a:pPr algn="ctr"/>
            <a:r>
              <a:rPr lang="en-US" sz="1200" b="1">
                <a:solidFill>
                  <a:srgbClr val="002060"/>
                </a:solidFill>
              </a:rPr>
              <a:t>CMC, Vellore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/>
          <p:nvPr/>
        </p:nvSpPr>
        <p:spPr>
          <a:xfrm>
            <a:off x="381000" y="266700"/>
            <a:ext cx="428453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rgbClr val="0D7377"/>
                </a:solidFill>
                <a:latin typeface="Arial"/>
                <a:ea typeface="Arial"/>
                <a:cs typeface="Arial"/>
                <a:sym typeface="Arial"/>
              </a:rPr>
              <a:t>Study Overview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7"/>
          <p:cNvSpPr/>
          <p:nvPr/>
        </p:nvSpPr>
        <p:spPr>
          <a:xfrm>
            <a:off x="381000" y="1471761"/>
            <a:ext cx="8382000" cy="670471"/>
          </a:xfrm>
          <a:prstGeom prst="roundRect">
            <a:avLst>
              <a:gd name="adj" fmla="val 9092"/>
            </a:avLst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7"/>
          <p:cNvSpPr/>
          <p:nvPr/>
        </p:nvSpPr>
        <p:spPr>
          <a:xfrm>
            <a:off x="514350" y="1605111"/>
            <a:ext cx="8277606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50"/>
              <a:buFont typeface="Arial"/>
              <a:buNone/>
            </a:pPr>
            <a:r>
              <a:rPr lang="en" sz="1050" b="1" i="0" u="none" strike="noStrike" cap="none">
                <a:solidFill>
                  <a:srgbClr val="0D7377"/>
                </a:solidFill>
                <a:latin typeface="Arial"/>
                <a:ea typeface="Arial"/>
                <a:cs typeface="Arial"/>
                <a:sym typeface="Arial"/>
              </a:rPr>
              <a:t>Paper Being Reproduced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7"/>
          <p:cNvSpPr/>
          <p:nvPr/>
        </p:nvSpPr>
        <p:spPr>
          <a:xfrm>
            <a:off x="514350" y="1848892"/>
            <a:ext cx="8277606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Mateus et al. (2023) - "Image based prognosis in head and neck cancer using convolutional neural networks"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381000" y="2275582"/>
            <a:ext cx="4124325" cy="1335286"/>
          </a:xfrm>
          <a:prstGeom prst="roundRect">
            <a:avLst>
              <a:gd name="adj" fmla="val 4565"/>
            </a:avLst>
          </a:prstGeom>
          <a:solidFill>
            <a:srgbClr val="E8E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495300" y="2389882"/>
            <a:ext cx="3973640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75"/>
              <a:buFont typeface="Arial"/>
              <a:buNone/>
            </a:pPr>
            <a:r>
              <a:rPr lang="en" sz="975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Three Clinical Outcomes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495300" y="2620268"/>
            <a:ext cx="3895725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noAutofit/>
          </a:bodyPr>
          <a:lstStyle/>
          <a:p>
            <a:pPr marL="76200" marR="0" lvl="0" indent="-85725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/>
              <a:buChar char="•"/>
            </a:pPr>
            <a:r>
              <a:rPr lang="en" sz="12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Distant Metastasis (2y)</a:t>
            </a:r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76200" marR="0" lvl="0" indent="-85725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/>
              <a:buChar char="•"/>
            </a:pPr>
            <a:r>
              <a:rPr lang="en" sz="12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Locoregional Recurrence (2y)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76200" marR="0" lvl="0" indent="-85725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/>
              <a:buChar char="•"/>
            </a:pPr>
            <a:r>
              <a:rPr lang="en" sz="12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Overall Survival (4y)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4638675" y="2427982"/>
            <a:ext cx="4124325" cy="1030486"/>
          </a:xfrm>
          <a:prstGeom prst="roundRect">
            <a:avLst>
              <a:gd name="adj" fmla="val 5916"/>
            </a:avLst>
          </a:prstGeom>
          <a:solidFill>
            <a:srgbClr val="E8E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4752975" y="2542282"/>
            <a:ext cx="3973640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75"/>
              <a:buFont typeface="Arial"/>
              <a:buNone/>
            </a:pPr>
            <a:r>
              <a:rPr lang="en" sz="975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Two Model Configurations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4752975" y="2772668"/>
            <a:ext cx="38957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noAutofit/>
          </a:bodyPr>
          <a:lstStyle/>
          <a:p>
            <a:pPr marL="76200" marR="0" lvl="0" indent="-85725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/>
              <a:buChar char="•"/>
            </a:pPr>
            <a:r>
              <a:rPr lang="en" sz="12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Imaging-only (CNN on CT)</a:t>
            </a:r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76200" marR="0" lvl="0" indent="-85725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/>
              <a:buChar char="•"/>
            </a:pPr>
            <a:r>
              <a:rPr lang="en" sz="12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Imaging + Clinical data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381000" y="3744218"/>
            <a:ext cx="8382000" cy="727621"/>
          </a:xfrm>
          <a:prstGeom prst="roundRect">
            <a:avLst>
              <a:gd name="adj" fmla="val 8378"/>
            </a:avLst>
          </a:prstGeom>
          <a:solidFill>
            <a:srgbClr val="FFF5F5"/>
          </a:solidFill>
          <a:ln w="28575" cap="flat" cmpd="sng">
            <a:solidFill>
              <a:srgbClr val="FF6B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542925" y="3906143"/>
            <a:ext cx="8219313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50"/>
              <a:buFont typeface="Arial"/>
              <a:buNone/>
            </a:pPr>
            <a:r>
              <a:rPr lang="en" sz="1050" b="1" i="0" u="none" strike="noStrike" cap="non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542925" y="4149923"/>
            <a:ext cx="8219313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Reproduce the paper's methodology on the Maastro dataset, then apply validated approach to our CMC dataset for external validation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lang="en" sz="75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Canada dataset (training) → Maastro (testing) | Our work: Reproduce + CMC validation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4C58E20F-4ACF-C268-FB0C-B13BADFE5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449" y="266700"/>
            <a:ext cx="591011" cy="582109"/>
          </a:xfrm>
          <a:prstGeom prst="rect">
            <a:avLst/>
          </a:prstGeom>
        </p:spPr>
      </p:pic>
      <p:pic>
        <p:nvPicPr>
          <p:cNvPr id="3" name="Picture 2" descr="A picture containing logo&#10;&#10;Description automatically generated">
            <a:extLst>
              <a:ext uri="{FF2B5EF4-FFF2-40B4-BE49-F238E27FC236}">
                <a16:creationId xmlns:a16="http://schemas.microsoft.com/office/drawing/2014/main" id="{6334EF3E-497A-DF2B-C884-6A1A1CB1C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423" y="266700"/>
            <a:ext cx="587041" cy="5795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/>
          <p:nvPr/>
        </p:nvSpPr>
        <p:spPr>
          <a:xfrm>
            <a:off x="381000" y="323850"/>
            <a:ext cx="6169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rgbClr val="0D7377"/>
                </a:solidFill>
                <a:latin typeface="Arial"/>
                <a:ea typeface="Arial"/>
                <a:cs typeface="Arial"/>
                <a:sym typeface="Arial"/>
              </a:rPr>
              <a:t>Reproduction Results - Imaging Only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381000" y="800100"/>
            <a:ext cx="2604900" cy="312300"/>
          </a:xfrm>
          <a:prstGeom prst="roundRect">
            <a:avLst>
              <a:gd name="adj" fmla="val 19514"/>
            </a:avLst>
          </a:prstGeom>
          <a:solidFill>
            <a:srgbClr val="E8F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8"/>
          <p:cNvCxnSpPr/>
          <p:nvPr/>
        </p:nvCxnSpPr>
        <p:spPr>
          <a:xfrm>
            <a:off x="400050" y="800100"/>
            <a:ext cx="0" cy="312300"/>
          </a:xfrm>
          <a:prstGeom prst="straightConnector1">
            <a:avLst/>
          </a:prstGeom>
          <a:noFill/>
          <a:ln w="381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" name="Google Shape;91;p18"/>
          <p:cNvSpPr/>
          <p:nvPr/>
        </p:nvSpPr>
        <p:spPr>
          <a:xfrm>
            <a:off x="533400" y="876300"/>
            <a:ext cx="23850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0D7377"/>
                </a:solidFill>
                <a:latin typeface="Arial"/>
                <a:ea typeface="Arial"/>
                <a:cs typeface="Arial"/>
                <a:sym typeface="Arial"/>
              </a:rPr>
              <a:t>✓ Successfully reproduced original results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2" name="Google Shape;92;p18"/>
          <p:cNvGraphicFramePr/>
          <p:nvPr>
            <p:extLst>
              <p:ext uri="{D42A27DB-BD31-4B8C-83A1-F6EECF244321}">
                <p14:modId xmlns:p14="http://schemas.microsoft.com/office/powerpoint/2010/main" val="2147337328"/>
              </p:ext>
            </p:extLst>
          </p:nvPr>
        </p:nvGraphicFramePr>
        <p:xfrm>
          <a:off x="502644" y="2017463"/>
          <a:ext cx="8061332" cy="2450425"/>
        </p:xfrm>
        <a:graphic>
          <a:graphicData uri="http://schemas.openxmlformats.org/drawingml/2006/table">
            <a:tbl>
              <a:tblPr>
                <a:noFill/>
                <a:tableStyleId>{0F6E0374-E33B-4860-B8C2-911FD7087E43}</a:tableStyleId>
              </a:tblPr>
              <a:tblGrid>
                <a:gridCol w="1521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6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85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chemeClr val="dk1"/>
                          </a:solidFill>
                        </a:rPr>
                        <a:t>Events</a:t>
                      </a:r>
                      <a:endParaRPr sz="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25" marR="47625" marT="47625" marB="47625" anchor="ctr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chemeClr val="dk1"/>
                          </a:solidFill>
                        </a:rPr>
                        <a:t>Cohort</a:t>
                      </a:r>
                      <a:endParaRPr sz="800" b="1" u="none" strike="noStrike" cap="none"/>
                    </a:p>
                  </a:txBody>
                  <a:tcPr marL="47625" marR="47625" marT="47625" marB="47625" anchor="ctr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chemeClr val="dk1"/>
                          </a:solidFill>
                        </a:rPr>
                        <a:t>Paper Results (CNN)</a:t>
                      </a:r>
                      <a:endParaRPr sz="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25" marR="47625" marT="47625" marB="47625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chemeClr val="dk1"/>
                          </a:solidFill>
                        </a:rPr>
                        <a:t>Our Results (CNN)</a:t>
                      </a:r>
                      <a:endParaRPr sz="800" b="1" u="none" strike="noStrike" cap="none"/>
                    </a:p>
                  </a:txBody>
                  <a:tcPr marL="47625" marR="47625" marT="47625" marB="47625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1" u="none" strike="noStrike" cap="none"/>
                    </a:p>
                  </a:txBody>
                  <a:tcPr marL="47625" marR="47625" marT="47625" marB="47625" anchor="ctr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800" b="1" u="none" strike="noStrike" cap="none"/>
                        <a:t>Cohort split (CI 95%) / </a:t>
                      </a:r>
                      <a:r>
                        <a:rPr lang="en" sz="800" b="1" u="none" strike="noStrike" cap="none">
                          <a:solidFill>
                            <a:schemeClr val="dk1"/>
                          </a:solidFill>
                        </a:rPr>
                        <a:t>5-fold CV</a:t>
                      </a:r>
                      <a:endParaRPr sz="800" b="1" u="none" strike="noStrike" cap="none"/>
                    </a:p>
                  </a:txBody>
                  <a:tcPr marL="47625" marR="47625" marT="47625" marB="47625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800" b="1" u="none" strike="noStrike" cap="none"/>
                        <a:t>Cohort split (CI 95%) / 5-fold CV</a:t>
                      </a:r>
                      <a:endParaRPr sz="800" b="1" u="none" strike="noStrike" cap="none"/>
                    </a:p>
                  </a:txBody>
                  <a:tcPr marL="47625" marR="47625" marT="47625" marB="47625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chemeClr val="dk1"/>
                          </a:solidFill>
                        </a:rPr>
                        <a:t>Distant Metastasis (2y)</a:t>
                      </a:r>
                      <a:endParaRPr sz="800" u="none" strike="noStrike" cap="none"/>
                    </a:p>
                  </a:txBody>
                  <a:tcPr marL="47625" marR="47625" marT="47625" marB="47625" anchor="ctr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/>
                        <a:t>Train</a:t>
                      </a:r>
                      <a:endParaRPr sz="800" u="none" strike="noStrike" cap="none"/>
                    </a:p>
                  </a:txBody>
                  <a:tcPr marL="47625" marR="47625" marT="47625" marB="47625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800" u="none" strike="noStrike" cap="none"/>
                        <a:t>0.91 [0.84, 0.96] / </a:t>
                      </a:r>
                      <a:r>
                        <a:rPr lang="en" sz="800" u="none" strike="noStrike" cap="none">
                          <a:solidFill>
                            <a:schemeClr val="dk1"/>
                          </a:solidFill>
                        </a:rPr>
                        <a:t>0.87 (0.84–0.92)</a:t>
                      </a:r>
                      <a:endParaRPr sz="800" u="none" strike="noStrike" cap="none"/>
                    </a:p>
                  </a:txBody>
                  <a:tcPr marL="47625" marR="47625" marT="47625" marB="47625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rgbClr val="C00000"/>
                          </a:solidFill>
                        </a:rPr>
                        <a:t>0.85 [0.75, 0.93] / 0.</a:t>
                      </a:r>
                      <a:r>
                        <a:rPr lang="en" sz="800" b="1" u="none">
                          <a:solidFill>
                            <a:srgbClr val="C00000"/>
                          </a:solidFill>
                        </a:rPr>
                        <a:t>88</a:t>
                      </a:r>
                      <a:r>
                        <a:rPr lang="en" sz="800" b="1" u="none" strike="noStrike" cap="none">
                          <a:solidFill>
                            <a:srgbClr val="C00000"/>
                          </a:solidFill>
                        </a:rPr>
                        <a:t> (0.83</a:t>
                      </a:r>
                      <a:r>
                        <a:rPr lang="en" sz="800" b="1" u="none">
                          <a:solidFill>
                            <a:srgbClr val="C00000"/>
                          </a:solidFill>
                        </a:rPr>
                        <a:t>–0.93</a:t>
                      </a:r>
                      <a:r>
                        <a:rPr lang="en" sz="800" b="1" u="none" strike="noStrike" cap="none">
                          <a:solidFill>
                            <a:srgbClr val="C00000"/>
                          </a:solidFill>
                        </a:rPr>
                        <a:t>)</a:t>
                      </a:r>
                      <a:endParaRPr sz="8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47625" marR="47625" marT="47625" marB="47625">
                    <a:lnL w="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/>
                        <a:t>Val</a:t>
                      </a:r>
                      <a:endParaRPr sz="800" u="none" strike="noStrike" cap="none"/>
                    </a:p>
                  </a:txBody>
                  <a:tcPr marL="47625" marR="47625" marT="47625" marB="47625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800" u="none" strike="noStrike" cap="none"/>
                        <a:t>0.89 [0.81, 0.96] / </a:t>
                      </a:r>
                      <a:r>
                        <a:rPr lang="en" sz="800" u="none" strike="noStrike" cap="none">
                          <a:solidFill>
                            <a:schemeClr val="dk1"/>
                          </a:solidFill>
                        </a:rPr>
                        <a:t>0.86 (0.77–0.96)</a:t>
                      </a:r>
                      <a:endParaRPr sz="800" u="none" strike="noStrike" cap="none"/>
                    </a:p>
                  </a:txBody>
                  <a:tcPr marL="47625" marR="47625" marT="47625" marB="47625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rgbClr val="C00000"/>
                          </a:solidFill>
                        </a:rPr>
                        <a:t>0.87 [0.73, 0.98] / 0.</a:t>
                      </a:r>
                      <a:r>
                        <a:rPr lang="en" sz="800" b="1" u="none">
                          <a:solidFill>
                            <a:srgbClr val="C00000"/>
                          </a:solidFill>
                        </a:rPr>
                        <a:t>86</a:t>
                      </a:r>
                      <a:r>
                        <a:rPr lang="en" sz="800" b="1" u="none" strike="noStrike" cap="none">
                          <a:solidFill>
                            <a:srgbClr val="C00000"/>
                          </a:solidFill>
                        </a:rPr>
                        <a:t> (0.81</a:t>
                      </a:r>
                      <a:r>
                        <a:rPr lang="en" sz="800" b="1" u="none">
                          <a:solidFill>
                            <a:srgbClr val="C00000"/>
                          </a:solidFill>
                        </a:rPr>
                        <a:t>–0.95</a:t>
                      </a:r>
                      <a:r>
                        <a:rPr lang="en" sz="800" b="1" u="none" strike="noStrike" cap="none">
                          <a:solidFill>
                            <a:srgbClr val="C00000"/>
                          </a:solidFill>
                        </a:rPr>
                        <a:t>)</a:t>
                      </a:r>
                      <a:endParaRPr sz="8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47625" marR="47625" marT="47625" marB="47625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/>
                        <a:t>Test</a:t>
                      </a:r>
                      <a:endParaRPr sz="800" u="none" strike="noStrike" cap="none"/>
                    </a:p>
                  </a:txBody>
                  <a:tcPr marL="47625" marR="47625" marT="47625" marB="47625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800" u="none" strike="noStrike" cap="none"/>
                        <a:t>0.89 [0.79, 0.98] / </a:t>
                      </a:r>
                      <a:r>
                        <a:rPr lang="en" sz="800" u="none" strike="noStrike" cap="none">
                          <a:solidFill>
                            <a:schemeClr val="dk1"/>
                          </a:solidFill>
                        </a:rPr>
                        <a:t>0.83 (0.76–0.90)</a:t>
                      </a:r>
                      <a:r>
                        <a:rPr lang="en" sz="800" u="none" strike="noStrike" cap="none"/>
                        <a:t> </a:t>
                      </a:r>
                      <a:endParaRPr sz="800" u="none" strike="noStrike" cap="none"/>
                    </a:p>
                  </a:txBody>
                  <a:tcPr marL="47625" marR="47625" marT="47625" marB="47625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rgbClr val="C00000"/>
                          </a:solidFill>
                        </a:rPr>
                        <a:t>0.87 [0.67, 0.99] / 0.</a:t>
                      </a:r>
                      <a:r>
                        <a:rPr lang="en" sz="800" b="1" u="none">
                          <a:solidFill>
                            <a:srgbClr val="C00000"/>
                          </a:solidFill>
                        </a:rPr>
                        <a:t>79</a:t>
                      </a:r>
                      <a:r>
                        <a:rPr lang="en" sz="800" b="1" u="none" strike="noStrike" cap="none">
                          <a:solidFill>
                            <a:srgbClr val="C00000"/>
                          </a:solidFill>
                        </a:rPr>
                        <a:t> (0.74</a:t>
                      </a:r>
                      <a:r>
                        <a:rPr lang="en" sz="800" b="1" u="none">
                          <a:solidFill>
                            <a:srgbClr val="C00000"/>
                          </a:solidFill>
                        </a:rPr>
                        <a:t>–0.85</a:t>
                      </a:r>
                      <a:r>
                        <a:rPr lang="en" sz="800" b="1" u="none" strike="noStrike" cap="none">
                          <a:solidFill>
                            <a:srgbClr val="C00000"/>
                          </a:solidFill>
                        </a:rPr>
                        <a:t>)</a:t>
                      </a:r>
                      <a:endParaRPr sz="8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47625" marR="47625" marT="47625" marB="47625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chemeClr val="dk1"/>
                          </a:solidFill>
                        </a:rPr>
                        <a:t>Locoregional failure (2y)</a:t>
                      </a:r>
                      <a:endParaRPr sz="800" u="none" strike="noStrike" cap="none"/>
                    </a:p>
                  </a:txBody>
                  <a:tcPr marL="47625" marR="47625" marT="47625" marB="47625" anchor="ctr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/>
                        <a:t>Train</a:t>
                      </a:r>
                      <a:endParaRPr sz="800" u="none" strike="noStrike" cap="none"/>
                    </a:p>
                  </a:txBody>
                  <a:tcPr marL="47625" marR="47625" marT="47625" marB="47625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800" u="none" strike="noStrike" cap="none"/>
                        <a:t>0.76 [0.64, 0.88] / </a:t>
                      </a:r>
                      <a:r>
                        <a:rPr lang="en" sz="800" u="none" strike="noStrike" cap="none">
                          <a:solidFill>
                            <a:schemeClr val="dk1"/>
                          </a:solidFill>
                        </a:rPr>
                        <a:t>0.77 (0.72–0.86)</a:t>
                      </a:r>
                      <a:endParaRPr sz="800" u="none" strike="noStrike" cap="none"/>
                    </a:p>
                  </a:txBody>
                  <a:tcPr marL="47625" marR="47625" marT="47625" marB="47625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rgbClr val="C00000"/>
                          </a:solidFill>
                        </a:rPr>
                        <a:t>0.71 [0.57, 0.84] / 0.</a:t>
                      </a:r>
                      <a:r>
                        <a:rPr lang="en" sz="800" b="1" u="none">
                          <a:solidFill>
                            <a:srgbClr val="C00000"/>
                          </a:solidFill>
                        </a:rPr>
                        <a:t>78</a:t>
                      </a:r>
                      <a:r>
                        <a:rPr lang="en" sz="800" b="1" u="none" strike="noStrike" cap="none">
                          <a:solidFill>
                            <a:srgbClr val="C00000"/>
                          </a:solidFill>
                        </a:rPr>
                        <a:t> (0.71</a:t>
                      </a:r>
                      <a:r>
                        <a:rPr lang="en" sz="800" b="1" u="none">
                          <a:solidFill>
                            <a:srgbClr val="C00000"/>
                          </a:solidFill>
                        </a:rPr>
                        <a:t>–0.81</a:t>
                      </a:r>
                      <a:r>
                        <a:rPr lang="en" sz="800" b="1" u="none" strike="noStrike" cap="none">
                          <a:solidFill>
                            <a:srgbClr val="C00000"/>
                          </a:solidFill>
                        </a:rPr>
                        <a:t>)</a:t>
                      </a:r>
                      <a:endParaRPr sz="8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7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/>
                        <a:t>Val</a:t>
                      </a:r>
                      <a:endParaRPr sz="800" u="none" strike="noStrike" cap="none"/>
                    </a:p>
                  </a:txBody>
                  <a:tcPr marL="47625" marR="47625" marT="47625" marB="47625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800" u="none" strike="noStrike" cap="none"/>
                        <a:t>0.77 [0.58, 0.92] / </a:t>
                      </a:r>
                      <a:r>
                        <a:rPr lang="en" sz="800" u="none" strike="noStrike" cap="none">
                          <a:solidFill>
                            <a:schemeClr val="dk1"/>
                          </a:solidFill>
                        </a:rPr>
                        <a:t>0.76 (0.72–0.84)</a:t>
                      </a:r>
                      <a:endParaRPr sz="800" u="none" strike="noStrike" cap="none"/>
                    </a:p>
                  </a:txBody>
                  <a:tcPr marL="47625" marR="47625" marT="47625" marB="47625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rgbClr val="C00000"/>
                          </a:solidFill>
                        </a:rPr>
                        <a:t>0.72 [0.53, 0.88] / 0.</a:t>
                      </a:r>
                      <a:r>
                        <a:rPr lang="en" sz="800" b="1" u="none">
                          <a:solidFill>
                            <a:srgbClr val="C00000"/>
                          </a:solidFill>
                        </a:rPr>
                        <a:t>79</a:t>
                      </a:r>
                      <a:r>
                        <a:rPr lang="en" sz="800" b="1" u="none" strike="noStrike" cap="none">
                          <a:solidFill>
                            <a:srgbClr val="C00000"/>
                          </a:solidFill>
                        </a:rPr>
                        <a:t> (0.74</a:t>
                      </a:r>
                      <a:r>
                        <a:rPr lang="en" sz="800" b="1" u="none">
                          <a:solidFill>
                            <a:srgbClr val="C00000"/>
                          </a:solidFill>
                        </a:rPr>
                        <a:t>–0.82</a:t>
                      </a:r>
                      <a:r>
                        <a:rPr lang="en" sz="800" b="1" u="none" strike="noStrike" cap="none">
                          <a:solidFill>
                            <a:srgbClr val="C00000"/>
                          </a:solidFill>
                        </a:rPr>
                        <a:t>)</a:t>
                      </a:r>
                      <a:endParaRPr sz="8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/>
                        <a:t>Test</a:t>
                      </a:r>
                      <a:endParaRPr sz="800" u="none" strike="noStrike" cap="none"/>
                    </a:p>
                  </a:txBody>
                  <a:tcPr marL="47625" marR="47625" marT="47625" marB="47625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800" u="none" strike="noStrike" cap="none"/>
                        <a:t>0.45 [0.32, 0.57] / </a:t>
                      </a:r>
                      <a:r>
                        <a:rPr lang="en" sz="800" u="none" strike="noStrike" cap="none">
                          <a:solidFill>
                            <a:schemeClr val="dk1"/>
                          </a:solidFill>
                        </a:rPr>
                        <a:t>0.53 (0.48–0.59)</a:t>
                      </a:r>
                      <a:endParaRPr sz="800" u="none" strike="noStrike" cap="none"/>
                    </a:p>
                  </a:txBody>
                  <a:tcPr marL="47625" marR="47625" marT="47625" marB="47625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rgbClr val="C00000"/>
                          </a:solidFill>
                        </a:rPr>
                        <a:t>0.49 [0.36, 0.62] / 0.</a:t>
                      </a:r>
                      <a:r>
                        <a:rPr lang="en" sz="800" b="1" u="none">
                          <a:solidFill>
                            <a:srgbClr val="C00000"/>
                          </a:solidFill>
                        </a:rPr>
                        <a:t>56</a:t>
                      </a:r>
                      <a:r>
                        <a:rPr lang="en" sz="800" b="1" u="none" strike="noStrike" cap="none">
                          <a:solidFill>
                            <a:srgbClr val="C00000"/>
                          </a:solidFill>
                        </a:rPr>
                        <a:t> (0.54</a:t>
                      </a:r>
                      <a:r>
                        <a:rPr lang="en" sz="800" b="1" u="none">
                          <a:solidFill>
                            <a:srgbClr val="C00000"/>
                          </a:solidFill>
                        </a:rPr>
                        <a:t>–0.57</a:t>
                      </a:r>
                      <a:r>
                        <a:rPr lang="en" sz="800" b="1" u="none" strike="noStrike" cap="none">
                          <a:solidFill>
                            <a:srgbClr val="C00000"/>
                          </a:solidFill>
                        </a:rPr>
                        <a:t>)</a:t>
                      </a:r>
                      <a:endParaRPr sz="8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chemeClr val="dk1"/>
                          </a:solidFill>
                        </a:rPr>
                        <a:t>Overall survival (4y)</a:t>
                      </a:r>
                      <a:endParaRPr sz="800" u="none" strike="noStrike" cap="none"/>
                    </a:p>
                  </a:txBody>
                  <a:tcPr marL="47625" marR="47625" marT="47625" marB="47625" anchor="ctr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/>
                        <a:t>Train</a:t>
                      </a:r>
                      <a:endParaRPr sz="800" u="none" strike="noStrike" cap="none"/>
                    </a:p>
                  </a:txBody>
                  <a:tcPr marL="47625" marR="47625" marT="47625" marB="47625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800" u="none" strike="noStrike" cap="none"/>
                        <a:t>0.84 [0.75, 0.92] / </a:t>
                      </a:r>
                      <a:r>
                        <a:rPr lang="en" sz="800" u="none" strike="noStrike" cap="none">
                          <a:solidFill>
                            <a:schemeClr val="dk1"/>
                          </a:solidFill>
                        </a:rPr>
                        <a:t>0.82 (0.68–0.94)</a:t>
                      </a:r>
                      <a:endParaRPr sz="800" u="none" strike="noStrike" cap="none"/>
                    </a:p>
                  </a:txBody>
                  <a:tcPr marL="47625" marR="47625" marT="47625" marB="47625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rgbClr val="C00000"/>
                          </a:solidFill>
                        </a:rPr>
                        <a:t>0.75 [0.61, 0.86] / 0.</a:t>
                      </a:r>
                      <a:r>
                        <a:rPr lang="en" sz="800" b="1" u="none">
                          <a:solidFill>
                            <a:srgbClr val="C00000"/>
                          </a:solidFill>
                        </a:rPr>
                        <a:t>79 (0.77–0.81 )</a:t>
                      </a:r>
                      <a:endParaRPr sz="8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9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/>
                        <a:t>Val</a:t>
                      </a:r>
                      <a:endParaRPr sz="800" u="none" strike="noStrike" cap="none"/>
                    </a:p>
                  </a:txBody>
                  <a:tcPr marL="47625" marR="47625" marT="47625" marB="47625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800" u="none" strike="noStrike" cap="none"/>
                        <a:t>0.80 [0.66, 0.91] / </a:t>
                      </a:r>
                      <a:r>
                        <a:rPr lang="en" sz="800" u="none" strike="noStrike" cap="none">
                          <a:solidFill>
                            <a:schemeClr val="dk1"/>
                          </a:solidFill>
                        </a:rPr>
                        <a:t>0.77 (0.62–0.96)</a:t>
                      </a:r>
                      <a:endParaRPr sz="800" u="none" strike="noStrike" cap="none"/>
                    </a:p>
                  </a:txBody>
                  <a:tcPr marL="47625" marR="47625" marT="47625" marB="47625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rgbClr val="C00000"/>
                          </a:solidFill>
                        </a:rPr>
                        <a:t>0.77 [0.62, 0.90] / 0.</a:t>
                      </a:r>
                      <a:r>
                        <a:rPr lang="en" sz="800" b="1" u="none">
                          <a:solidFill>
                            <a:srgbClr val="C00000"/>
                          </a:solidFill>
                        </a:rPr>
                        <a:t>79</a:t>
                      </a:r>
                      <a:r>
                        <a:rPr lang="en" sz="800" b="1" u="none" strike="noStrike" cap="none">
                          <a:solidFill>
                            <a:srgbClr val="C00000"/>
                          </a:solidFill>
                        </a:rPr>
                        <a:t> (0.78</a:t>
                      </a:r>
                      <a:r>
                        <a:rPr lang="en" sz="800" b="1" u="none">
                          <a:solidFill>
                            <a:srgbClr val="C00000"/>
                          </a:solidFill>
                        </a:rPr>
                        <a:t>–0.80</a:t>
                      </a:r>
                      <a:r>
                        <a:rPr lang="en" sz="800" b="1" u="none" strike="noStrike" cap="none">
                          <a:solidFill>
                            <a:srgbClr val="C00000"/>
                          </a:solidFill>
                        </a:rPr>
                        <a:t>)</a:t>
                      </a:r>
                      <a:endParaRPr sz="8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/>
                        <a:t>Test</a:t>
                      </a:r>
                      <a:endParaRPr sz="800" u="none" strike="noStrike" cap="none"/>
                    </a:p>
                  </a:txBody>
                  <a:tcPr marL="47625" marR="47625" marT="47625" marB="47625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800" u="none" strike="noStrike" cap="none"/>
                        <a:t>0.67 [0.57, 0.77] / </a:t>
                      </a:r>
                      <a:r>
                        <a:rPr lang="en" sz="800" u="none" strike="noStrike" cap="none">
                          <a:solidFill>
                            <a:schemeClr val="dk1"/>
                          </a:solidFill>
                        </a:rPr>
                        <a:t>0.63 (0.57–0.72)</a:t>
                      </a:r>
                      <a:r>
                        <a:rPr lang="en" sz="800" u="none" strike="noStrike" cap="none"/>
                        <a:t> </a:t>
                      </a:r>
                      <a:endParaRPr sz="800" u="none" strike="noStrike" cap="none"/>
                    </a:p>
                  </a:txBody>
                  <a:tcPr marL="47625" marR="47625" marT="47625" marB="47625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rgbClr val="C00000"/>
                          </a:solidFill>
                        </a:rPr>
                        <a:t>0.67 [0.56, 0.76] / 0.71 (0.67</a:t>
                      </a:r>
                      <a:r>
                        <a:rPr lang="en" sz="800" b="1" u="none">
                          <a:solidFill>
                            <a:srgbClr val="C00000"/>
                          </a:solidFill>
                        </a:rPr>
                        <a:t>–0.75</a:t>
                      </a:r>
                      <a:r>
                        <a:rPr lang="en" sz="800" b="1" u="none" strike="noStrike" cap="none">
                          <a:solidFill>
                            <a:srgbClr val="C00000"/>
                          </a:solidFill>
                        </a:rPr>
                        <a:t>)</a:t>
                      </a:r>
                      <a:endParaRPr sz="8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3" name="Google Shape;93;p18"/>
          <p:cNvSpPr txBox="1"/>
          <p:nvPr/>
        </p:nvSpPr>
        <p:spPr>
          <a:xfrm>
            <a:off x="637485" y="1373523"/>
            <a:ext cx="7870062" cy="4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900"/>
              </a:spcBef>
              <a:spcAft>
                <a:spcPts val="200"/>
              </a:spcAft>
              <a:buNone/>
            </a:pPr>
            <a:r>
              <a:rPr lang="en" sz="1000" b="1">
                <a:solidFill>
                  <a:schemeClr val="dk1"/>
                </a:solidFill>
              </a:rPr>
              <a:t> </a:t>
            </a:r>
            <a:r>
              <a:rPr lang="en" sz="1000" b="1" u="sng">
                <a:solidFill>
                  <a:schemeClr val="dk1"/>
                </a:solidFill>
              </a:rPr>
              <a:t>Table 1.</a:t>
            </a:r>
            <a:r>
              <a:rPr lang="en" sz="1000">
                <a:solidFill>
                  <a:schemeClr val="dk1"/>
                </a:solidFill>
              </a:rPr>
              <a:t> Comparative AUC performance for three clinical outcomes in head and neck cancer across the original published study (</a:t>
            </a:r>
            <a:r>
              <a:rPr lang="en" sz="1000" b="1">
                <a:solidFill>
                  <a:schemeClr val="dk1"/>
                </a:solidFill>
              </a:rPr>
              <a:t>“Paper Results”</a:t>
            </a:r>
            <a:r>
              <a:rPr lang="en" sz="1000">
                <a:solidFill>
                  <a:schemeClr val="dk1"/>
                </a:solidFill>
              </a:rPr>
              <a:t>), our reproduced models on the same dataset (</a:t>
            </a:r>
            <a:r>
              <a:rPr lang="en" sz="1000" b="1">
                <a:solidFill>
                  <a:schemeClr val="dk1"/>
                </a:solidFill>
              </a:rPr>
              <a:t>“Our Results”</a:t>
            </a:r>
            <a:r>
              <a:rPr lang="en" sz="1000">
                <a:solidFill>
                  <a:schemeClr val="dk1"/>
                </a:solidFill>
              </a:rPr>
              <a:t>)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A2784943-E390-23B3-AA71-D13CA8146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449" y="266700"/>
            <a:ext cx="591011" cy="582109"/>
          </a:xfrm>
          <a:prstGeom prst="rect">
            <a:avLst/>
          </a:prstGeom>
        </p:spPr>
      </p:pic>
      <p:pic>
        <p:nvPicPr>
          <p:cNvPr id="6" name="Picture 5" descr="A picture containing logo&#10;&#10;Description automatically generated">
            <a:extLst>
              <a:ext uri="{FF2B5EF4-FFF2-40B4-BE49-F238E27FC236}">
                <a16:creationId xmlns:a16="http://schemas.microsoft.com/office/drawing/2014/main" id="{A0D57EF2-A01C-DA9C-D53A-5066F2F1B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423" y="266700"/>
            <a:ext cx="587041" cy="5795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/>
          <p:nvPr/>
        </p:nvSpPr>
        <p:spPr>
          <a:xfrm>
            <a:off x="381000" y="323850"/>
            <a:ext cx="689800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rgbClr val="0D7377"/>
                </a:solidFill>
                <a:latin typeface="Arial"/>
                <a:ea typeface="Arial"/>
                <a:cs typeface="Arial"/>
                <a:sym typeface="Arial"/>
              </a:rPr>
              <a:t>Reproduction Results - With Clinical Data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9"/>
          <p:cNvSpPr/>
          <p:nvPr/>
        </p:nvSpPr>
        <p:spPr>
          <a:xfrm>
            <a:off x="381000" y="800100"/>
            <a:ext cx="2879527" cy="312390"/>
          </a:xfrm>
          <a:prstGeom prst="roundRect">
            <a:avLst>
              <a:gd name="adj" fmla="val 19514"/>
            </a:avLst>
          </a:prstGeom>
          <a:solidFill>
            <a:srgbClr val="E8F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19"/>
          <p:cNvCxnSpPr/>
          <p:nvPr/>
        </p:nvCxnSpPr>
        <p:spPr>
          <a:xfrm>
            <a:off x="400050" y="800100"/>
            <a:ext cx="0" cy="312390"/>
          </a:xfrm>
          <a:prstGeom prst="straightConnector1">
            <a:avLst/>
          </a:prstGeom>
          <a:noFill/>
          <a:ln w="381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2" name="Google Shape;102;p19"/>
          <p:cNvSpPr/>
          <p:nvPr/>
        </p:nvSpPr>
        <p:spPr>
          <a:xfrm>
            <a:off x="533400" y="876300"/>
            <a:ext cx="2665083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0D7377"/>
                </a:solidFill>
                <a:latin typeface="Arial"/>
                <a:ea typeface="Arial"/>
                <a:cs typeface="Arial"/>
                <a:sym typeface="Arial"/>
              </a:rPr>
              <a:t>✓ Reproduced both CNN and ANN architectures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3" name="Google Shape;103;p19"/>
          <p:cNvGraphicFramePr/>
          <p:nvPr>
            <p:extLst>
              <p:ext uri="{D42A27DB-BD31-4B8C-83A1-F6EECF244321}">
                <p14:modId xmlns:p14="http://schemas.microsoft.com/office/powerpoint/2010/main" val="698599752"/>
              </p:ext>
            </p:extLst>
          </p:nvPr>
        </p:nvGraphicFramePr>
        <p:xfrm>
          <a:off x="288400" y="2145000"/>
          <a:ext cx="8567175" cy="2533250"/>
        </p:xfrm>
        <a:graphic>
          <a:graphicData uri="http://schemas.openxmlformats.org/drawingml/2006/table">
            <a:tbl>
              <a:tblPr>
                <a:noFill/>
                <a:tableStyleId>{0F6E0374-E33B-4860-B8C2-911FD7087E43}</a:tableStyleId>
              </a:tblPr>
              <a:tblGrid>
                <a:gridCol w="117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1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4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6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700" b="1" u="none" strike="noStrike" cap="none">
                          <a:solidFill>
                            <a:schemeClr val="dk1"/>
                          </a:solidFill>
                        </a:rPr>
                        <a:t>Events</a:t>
                      </a:r>
                      <a:endParaRPr sz="7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25" marR="47625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700" b="1" u="none" strike="noStrike" cap="none">
                          <a:solidFill>
                            <a:schemeClr val="dk1"/>
                          </a:solidFill>
                        </a:rPr>
                        <a:t>Cohort</a:t>
                      </a:r>
                      <a:endParaRPr sz="7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25" marR="47625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b="1" u="none" strike="noStrike" cap="none"/>
                        <a:t>Paper Results (CNN)</a:t>
                      </a:r>
                      <a:endParaRPr sz="700" b="1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b="1" u="none" strike="noStrike" cap="none"/>
                        <a:t>Our Results (CNN)</a:t>
                      </a:r>
                      <a:endParaRPr sz="700" b="1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b="1" u="none" strike="noStrike" cap="none">
                          <a:solidFill>
                            <a:schemeClr val="dk1"/>
                          </a:solidFill>
                        </a:rPr>
                        <a:t>Paper Results </a:t>
                      </a:r>
                      <a:r>
                        <a:rPr lang="en" sz="700" b="1" u="none" strike="noStrike" cap="none"/>
                        <a:t>(ANN)</a:t>
                      </a:r>
                      <a:endParaRPr sz="7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b="1" u="none" strike="noStrike" cap="none"/>
                        <a:t>Our Results (ANN)</a:t>
                      </a:r>
                      <a:endParaRPr sz="700" b="1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25" marR="47625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600" b="1" u="none" strike="noStrike" cap="none"/>
                        <a:t>Cohort split (CI 95%) / </a:t>
                      </a:r>
                      <a:r>
                        <a:rPr lang="en" sz="600" b="1" u="none" strike="noStrike" cap="none">
                          <a:solidFill>
                            <a:schemeClr val="dk1"/>
                          </a:solidFill>
                        </a:rPr>
                        <a:t>5-fold CV</a:t>
                      </a:r>
                      <a:endParaRPr sz="600" b="1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600" b="1" u="none" strike="noStrike" cap="none"/>
                        <a:t>Cohort split (CI 95%) / </a:t>
                      </a:r>
                      <a:r>
                        <a:rPr lang="en" sz="600" b="1" u="none" strike="noStrike" cap="none">
                          <a:solidFill>
                            <a:schemeClr val="dk1"/>
                          </a:solidFill>
                        </a:rPr>
                        <a:t>5-fold CV</a:t>
                      </a:r>
                      <a:endParaRPr sz="600" b="1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600" b="1" u="none" strike="noStrike" cap="none"/>
                        <a:t>Cohort split (CI 95%) / </a:t>
                      </a:r>
                      <a:r>
                        <a:rPr lang="en" sz="600" b="1" u="none" strike="noStrike" cap="none">
                          <a:solidFill>
                            <a:schemeClr val="dk1"/>
                          </a:solidFill>
                        </a:rPr>
                        <a:t>5-fold CV</a:t>
                      </a:r>
                      <a:endParaRPr sz="600" b="1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600" b="1" u="none" strike="noStrike" cap="none"/>
                        <a:t>Cohort split (CI 95%) / </a:t>
                      </a:r>
                      <a:r>
                        <a:rPr lang="en" sz="600" b="1" u="none" strike="noStrike" cap="none">
                          <a:solidFill>
                            <a:schemeClr val="dk1"/>
                          </a:solidFill>
                        </a:rPr>
                        <a:t>5-fold CV</a:t>
                      </a:r>
                      <a:endParaRPr sz="600" b="1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775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700" b="1" u="none" strike="noStrike" cap="none">
                          <a:solidFill>
                            <a:schemeClr val="dk1"/>
                          </a:solidFill>
                        </a:rPr>
                        <a:t>Distant Metastasis (2y)</a:t>
                      </a:r>
                      <a:endParaRPr sz="700" u="none" strike="noStrike" cap="none"/>
                    </a:p>
                  </a:txBody>
                  <a:tcPr marL="47625" marR="47625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700" u="none" strike="noStrike" cap="none"/>
                        <a:t>Train</a:t>
                      </a:r>
                      <a:endParaRPr sz="7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strike="noStrike" cap="none"/>
                        <a:t>0.91 [0.86, 0.95] / </a:t>
                      </a:r>
                      <a:r>
                        <a:rPr lang="en" sz="600" u="none" strike="noStrike" cap="none">
                          <a:solidFill>
                            <a:schemeClr val="dk1"/>
                          </a:solidFill>
                        </a:rPr>
                        <a:t>0.88 (0.81–0.93)</a:t>
                      </a:r>
                      <a:endParaRPr sz="6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700" b="1" u="none" strike="noStrike" cap="non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0.90 [0.84, 0.95] / 0.8</a:t>
                      </a:r>
                      <a:r>
                        <a:rPr lang="en" sz="700" b="1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9</a:t>
                      </a:r>
                      <a:r>
                        <a:rPr lang="en" sz="700" b="1" u="none" strike="noStrike" cap="none" dirty="0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" sz="700" b="1">
                          <a:solidFill>
                            <a:srgbClr val="C00000"/>
                          </a:solidFill>
                        </a:rPr>
                        <a:t>(0.85–0.93)</a:t>
                      </a:r>
                      <a:endParaRPr sz="700" b="1" u="none" strike="noStrike" cap="none">
                        <a:solidFill>
                          <a:srgbClr val="C0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strike="noStrike" cap="none"/>
                        <a:t>0.87 [0.78, 0.93] / </a:t>
                      </a:r>
                      <a:r>
                        <a:rPr lang="en" sz="600" u="none" strike="noStrike" cap="none">
                          <a:solidFill>
                            <a:schemeClr val="dk1"/>
                          </a:solidFill>
                        </a:rPr>
                        <a:t>0.87 (0.81–0.92)</a:t>
                      </a:r>
                      <a:endParaRPr sz="6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b="1" u="none" strike="noStrike" cap="non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0.91  / 0.76</a:t>
                      </a:r>
                      <a:endParaRPr sz="600" b="1" u="none" strike="noStrike" cap="none">
                        <a:solidFill>
                          <a:srgbClr val="C0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9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700" u="none" strike="noStrike" cap="none"/>
                        <a:t>Val</a:t>
                      </a:r>
                      <a:endParaRPr sz="7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strike="noStrike" cap="none"/>
                        <a:t>0.89 [0.79, 0.98] / </a:t>
                      </a:r>
                      <a:r>
                        <a:rPr lang="en" sz="600" u="none" strike="noStrike" cap="none">
                          <a:solidFill>
                            <a:schemeClr val="dk1"/>
                          </a:solidFill>
                        </a:rPr>
                        <a:t>0.88 (0.81–0.93)</a:t>
                      </a:r>
                      <a:endParaRPr sz="6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700" b="1" u="none" strike="noStrike" cap="non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0.86 [0.68, 0.98] / 0.8</a:t>
                      </a:r>
                      <a:r>
                        <a:rPr lang="en" sz="700" b="1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7</a:t>
                      </a:r>
                      <a:r>
                        <a:rPr lang="en" sz="700" b="1" u="none" strike="noStrike" cap="none" dirty="0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" sz="700" b="1">
                          <a:solidFill>
                            <a:srgbClr val="C00000"/>
                          </a:solidFill>
                        </a:rPr>
                        <a:t>(0.84–0.89)</a:t>
                      </a:r>
                      <a:endParaRPr sz="7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strike="noStrike" cap="none"/>
                        <a:t>0.79 [0.65, 0.93] / </a:t>
                      </a:r>
                      <a:r>
                        <a:rPr lang="en" sz="600" u="none" strike="noStrike" cap="none">
                          <a:solidFill>
                            <a:schemeClr val="dk1"/>
                          </a:solidFill>
                        </a:rPr>
                        <a:t>0.83 (0.79–0.88)</a:t>
                      </a:r>
                      <a:endParaRPr sz="6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b="1" u="none" strike="noStrike" cap="non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0.76  / 0.80</a:t>
                      </a:r>
                      <a:endParaRPr sz="600" b="1" u="none" strike="noStrike" cap="none">
                        <a:solidFill>
                          <a:srgbClr val="C0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7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700" u="none" strike="noStrike" cap="none"/>
                        <a:t>Test</a:t>
                      </a:r>
                      <a:endParaRPr sz="7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strike="noStrike" cap="none"/>
                        <a:t>0.93 [0.86, 0.99] / </a:t>
                      </a:r>
                      <a:r>
                        <a:rPr lang="en" sz="600" u="none" strike="noStrike" cap="none">
                          <a:solidFill>
                            <a:schemeClr val="dk1"/>
                          </a:solidFill>
                        </a:rPr>
                        <a:t>0.88 (0.86–0.90)</a:t>
                      </a:r>
                      <a:endParaRPr sz="6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700" b="1" u="none" strike="noStrike" cap="non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0.92 [0.86, 0.98] / 0.8</a:t>
                      </a:r>
                      <a:r>
                        <a:rPr lang="en" sz="700" b="1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7</a:t>
                      </a:r>
                      <a:r>
                        <a:rPr lang="en" sz="700" b="1" u="none" strike="noStrike" cap="none" dirty="0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" sz="700" b="1">
                          <a:solidFill>
                            <a:srgbClr val="C00000"/>
                          </a:solidFill>
                        </a:rPr>
                        <a:t>(0.85–0.88)</a:t>
                      </a:r>
                      <a:endParaRPr sz="700" b="1" u="none" strike="noStrike" cap="none">
                        <a:solidFill>
                          <a:srgbClr val="C0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strike="noStrike" cap="none"/>
                        <a:t>0.87 [0.78, 0.95] / </a:t>
                      </a:r>
                      <a:r>
                        <a:rPr lang="en" sz="600" u="none" strike="noStrike" cap="none">
                          <a:solidFill>
                            <a:schemeClr val="dk1"/>
                          </a:solidFill>
                        </a:rPr>
                        <a:t>0.86 (0.81–0.89)</a:t>
                      </a:r>
                      <a:endParaRPr sz="6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b="1" u="none" strike="noStrike" cap="non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0.87  / 0.82</a:t>
                      </a:r>
                      <a:endParaRPr sz="600" b="1" u="none" strike="noStrike" cap="none">
                        <a:solidFill>
                          <a:srgbClr val="C0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775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700" b="1" u="none" strike="noStrike" cap="none">
                          <a:solidFill>
                            <a:schemeClr val="dk1"/>
                          </a:solidFill>
                        </a:rPr>
                        <a:t>Locoregional failure (2y)</a:t>
                      </a:r>
                      <a:endParaRPr sz="700" u="none" strike="noStrike" cap="none"/>
                    </a:p>
                  </a:txBody>
                  <a:tcPr marL="47625" marR="47625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700" u="none" strike="noStrike" cap="none"/>
                        <a:t>Train</a:t>
                      </a:r>
                      <a:endParaRPr sz="7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strike="noStrike" cap="none"/>
                        <a:t>0.84 [0.76, 0.93] / </a:t>
                      </a:r>
                      <a:r>
                        <a:rPr lang="en" sz="600" u="none" strike="noStrike" cap="none">
                          <a:solidFill>
                            <a:schemeClr val="dk1"/>
                          </a:solidFill>
                        </a:rPr>
                        <a:t>0.77 (0.62–0.87)</a:t>
                      </a:r>
                      <a:endParaRPr sz="6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700" b="1" u="none" strike="noStrike" cap="non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0.75 [0.63, 0.86] / 0.</a:t>
                      </a:r>
                      <a:r>
                        <a:rPr lang="en" sz="700" b="1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55</a:t>
                      </a:r>
                      <a:r>
                        <a:rPr lang="en" sz="700" b="1" u="none" strike="noStrike" cap="none" dirty="0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" sz="700" b="1">
                          <a:solidFill>
                            <a:srgbClr val="C00000"/>
                          </a:solidFill>
                        </a:rPr>
                        <a:t>(0.55–0.55)</a:t>
                      </a:r>
                      <a:endParaRPr sz="700" b="1" u="none" strike="noStrike" cap="none">
                        <a:solidFill>
                          <a:srgbClr val="C0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strike="noStrike" cap="none"/>
                        <a:t>0.71 [0.61, 0.80] / </a:t>
                      </a:r>
                      <a:r>
                        <a:rPr lang="en" sz="600" u="none" strike="noStrike" cap="none">
                          <a:solidFill>
                            <a:schemeClr val="dk1"/>
                          </a:solidFill>
                        </a:rPr>
                        <a:t>0.74 (0.70–0.84)</a:t>
                      </a:r>
                      <a:endParaRPr sz="6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b="1" u="none" strike="noStrike" cap="non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0.78  / 0.78</a:t>
                      </a:r>
                      <a:endParaRPr sz="600" b="1" u="none" strike="noStrike" cap="none">
                        <a:solidFill>
                          <a:srgbClr val="C0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700" u="none" strike="noStrike" cap="none"/>
                        <a:t>Val</a:t>
                      </a:r>
                      <a:endParaRPr sz="7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strike="noStrike" cap="none"/>
                        <a:t>0.70 [0.54, 0.84] / </a:t>
                      </a:r>
                      <a:r>
                        <a:rPr lang="en" sz="600" u="none" strike="noStrike" cap="none">
                          <a:solidFill>
                            <a:schemeClr val="dk1"/>
                          </a:solidFill>
                        </a:rPr>
                        <a:t>0.72 (0.60–0.84)</a:t>
                      </a:r>
                      <a:endParaRPr sz="6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700" b="1" u="none" strike="noStrike" cap="non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0.70 [0.52, 0.85] / 0.</a:t>
                      </a:r>
                      <a:r>
                        <a:rPr lang="en" sz="700" b="1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70</a:t>
                      </a:r>
                      <a:r>
                        <a:rPr lang="en" sz="700" b="1" u="none" strike="noStrike" cap="none" dirty="0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" sz="700" b="1">
                          <a:solidFill>
                            <a:srgbClr val="C00000"/>
                          </a:solidFill>
                        </a:rPr>
                        <a:t>(0.70–0.70)</a:t>
                      </a:r>
                      <a:endParaRPr sz="700" b="1" u="none" strike="noStrike" cap="none">
                        <a:solidFill>
                          <a:srgbClr val="C0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strike="noStrike" cap="none"/>
                        <a:t>0.66 [0.48, 0.82] / </a:t>
                      </a:r>
                      <a:r>
                        <a:rPr lang="en" sz="600" u="none" strike="noStrike" cap="none">
                          <a:solidFill>
                            <a:schemeClr val="dk1"/>
                          </a:solidFill>
                        </a:rPr>
                        <a:t>0.71 (0.60, 0.81)</a:t>
                      </a:r>
                      <a:endParaRPr sz="6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b="1" u="none" strike="noStrike" cap="non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0.54  / 0.69</a:t>
                      </a:r>
                      <a:endParaRPr sz="600" b="1" u="none" strike="noStrike" cap="none">
                        <a:solidFill>
                          <a:srgbClr val="C0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7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700" u="none" strike="noStrike" cap="none"/>
                        <a:t>Test</a:t>
                      </a:r>
                      <a:endParaRPr sz="7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strike="noStrike" cap="none"/>
                        <a:t>0.59 [0.47, 0.70] / </a:t>
                      </a:r>
                      <a:r>
                        <a:rPr lang="en" sz="600" u="none" strike="noStrike" cap="none">
                          <a:solidFill>
                            <a:schemeClr val="dk1"/>
                          </a:solidFill>
                        </a:rPr>
                        <a:t>0.57 (0.53–0.60)</a:t>
                      </a:r>
                      <a:endParaRPr sz="6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700" b="1" u="none" strike="noStrike" cap="non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0.57 [0.44, 0.68] / 0.</a:t>
                      </a:r>
                      <a:r>
                        <a:rPr lang="en" sz="700" b="1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40</a:t>
                      </a:r>
                      <a:r>
                        <a:rPr lang="en" sz="700" b="1" u="none" strike="noStrike" cap="none" dirty="0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" sz="700" b="1">
                          <a:solidFill>
                            <a:srgbClr val="C00000"/>
                          </a:solidFill>
                        </a:rPr>
                        <a:t>(0.40–0.40)</a:t>
                      </a:r>
                      <a:endParaRPr sz="700" b="1" u="none" strike="noStrike" cap="none">
                        <a:solidFill>
                          <a:srgbClr val="C0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strike="noStrike" cap="none"/>
                        <a:t>0.41 [0.29, 0.54] / </a:t>
                      </a:r>
                      <a:r>
                        <a:rPr lang="en" sz="600" u="none" strike="noStrike" cap="none">
                          <a:solidFill>
                            <a:schemeClr val="dk1"/>
                          </a:solidFill>
                        </a:rPr>
                        <a:t>0.53 (0.50, 0.54)</a:t>
                      </a:r>
                      <a:endParaRPr sz="6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b="1" u="none" strike="noStrike" cap="non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0.33  / 0.40</a:t>
                      </a:r>
                      <a:endParaRPr sz="600" b="1" u="none" strike="noStrike" cap="none">
                        <a:solidFill>
                          <a:srgbClr val="C0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775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700" b="1" u="none" strike="noStrike" cap="none">
                          <a:solidFill>
                            <a:schemeClr val="dk1"/>
                          </a:solidFill>
                        </a:rPr>
                        <a:t>Overall survival (4y)</a:t>
                      </a:r>
                      <a:endParaRPr sz="700" u="none" strike="noStrike" cap="none"/>
                    </a:p>
                  </a:txBody>
                  <a:tcPr marL="47625" marR="47625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700" u="none" strike="noStrike" cap="none"/>
                        <a:t>Train</a:t>
                      </a:r>
                      <a:endParaRPr sz="7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strike="noStrike" cap="none"/>
                        <a:t>0.74 [0.64, 0.84] / </a:t>
                      </a:r>
                      <a:r>
                        <a:rPr lang="en" sz="600" u="none" strike="noStrike" cap="none">
                          <a:solidFill>
                            <a:schemeClr val="dk1"/>
                          </a:solidFill>
                        </a:rPr>
                        <a:t>0.83 (0.74–0.94)</a:t>
                      </a:r>
                      <a:endParaRPr sz="6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700" b="1" u="none" strike="noStrike" cap="non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0.74 [0.64, 0.84] / 0.8</a:t>
                      </a:r>
                      <a:r>
                        <a:rPr lang="en" sz="700" b="1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r>
                        <a:rPr lang="en" sz="700" b="1" u="none" strike="noStrike" cap="none" dirty="0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" sz="700" b="1">
                          <a:solidFill>
                            <a:srgbClr val="C00000"/>
                          </a:solidFill>
                        </a:rPr>
                        <a:t>(0.79–0.82)</a:t>
                      </a:r>
                      <a:endParaRPr sz="700" b="1" u="none" strike="noStrike" cap="none">
                        <a:solidFill>
                          <a:srgbClr val="C0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strike="noStrike" cap="none"/>
                        <a:t>0.83 [0.74, 0.90] / </a:t>
                      </a:r>
                      <a:r>
                        <a:rPr lang="en" sz="600" u="none" strike="noStrike" cap="none">
                          <a:solidFill>
                            <a:schemeClr val="dk1"/>
                          </a:solidFill>
                        </a:rPr>
                        <a:t>0.83 (0.77–0.85)</a:t>
                      </a:r>
                      <a:endParaRPr sz="6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b="1" u="none" strike="noStrike" cap="non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0.78  / 0.84</a:t>
                      </a:r>
                      <a:endParaRPr sz="500" b="1" u="none" strike="noStrike" cap="none">
                        <a:solidFill>
                          <a:srgbClr val="C0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3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700" u="none" strike="noStrike" cap="none"/>
                        <a:t>Val</a:t>
                      </a:r>
                      <a:endParaRPr sz="7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strike="noStrike" cap="none"/>
                        <a:t>0.74 [0.58, 0.86] / </a:t>
                      </a:r>
                      <a:r>
                        <a:rPr lang="en" sz="600" u="none" strike="noStrike" cap="none">
                          <a:solidFill>
                            <a:schemeClr val="dk1"/>
                          </a:solidFill>
                        </a:rPr>
                        <a:t>0.81 (0.73–0.93)</a:t>
                      </a:r>
                      <a:endParaRPr sz="6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700" b="1" u="none" strike="noStrike" cap="non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0.72 [0.58, 0.86] / 0.</a:t>
                      </a:r>
                      <a:r>
                        <a:rPr lang="en" sz="700" b="1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81</a:t>
                      </a:r>
                      <a:r>
                        <a:rPr lang="en" sz="700" b="1" u="none" strike="noStrike" cap="none" dirty="0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" sz="700" b="1">
                          <a:solidFill>
                            <a:srgbClr val="C00000"/>
                          </a:solidFill>
                        </a:rPr>
                        <a:t>(0.78–0.83)</a:t>
                      </a:r>
                      <a:endParaRPr sz="700" b="1" u="none" strike="noStrike" cap="none">
                        <a:solidFill>
                          <a:srgbClr val="C0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strike="noStrike" cap="none"/>
                        <a:t>0.75 [0.62, 0.87] / </a:t>
                      </a:r>
                      <a:r>
                        <a:rPr lang="en" sz="600" u="none" strike="noStrike" cap="none">
                          <a:solidFill>
                            <a:schemeClr val="dk1"/>
                          </a:solidFill>
                        </a:rPr>
                        <a:t>0.76 (0.71–0.78)</a:t>
                      </a:r>
                      <a:endParaRPr sz="6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b="1" u="none" strike="noStrike" cap="non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0.74  / 0.79</a:t>
                      </a:r>
                      <a:endParaRPr sz="600" b="1" u="none" strike="noStrike" cap="none">
                        <a:solidFill>
                          <a:srgbClr val="C0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7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700" u="none" strike="noStrike" cap="none"/>
                        <a:t>Test</a:t>
                      </a:r>
                      <a:endParaRPr sz="7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strike="noStrike" cap="none"/>
                        <a:t>0.69 [0.59, 0.79] / </a:t>
                      </a:r>
                      <a:r>
                        <a:rPr lang="en" sz="600" u="none" strike="noStrike" cap="none">
                          <a:solidFill>
                            <a:schemeClr val="dk1"/>
                          </a:solidFill>
                        </a:rPr>
                        <a:t>0.68 (0.63–0.71)</a:t>
                      </a:r>
                      <a:endParaRPr sz="6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700" b="1" u="none" strike="noStrike" cap="non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0.69 [0.59, 0.79] / 0.6</a:t>
                      </a:r>
                      <a:r>
                        <a:rPr lang="en" sz="700" b="1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r>
                        <a:rPr lang="en" sz="700" b="1" u="none" strike="noStrike" cap="none" dirty="0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" sz="700" b="1">
                          <a:solidFill>
                            <a:srgbClr val="C00000"/>
                          </a:solidFill>
                        </a:rPr>
                        <a:t>(0.57–0.64)</a:t>
                      </a:r>
                      <a:endParaRPr sz="700" b="1" u="none" strike="noStrike" cap="none">
                        <a:solidFill>
                          <a:srgbClr val="C0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strike="noStrike" cap="none"/>
                        <a:t>0.63 [0.52, 0.73] / </a:t>
                      </a:r>
                      <a:r>
                        <a:rPr lang="en" sz="600" u="none" strike="noStrike" cap="none">
                          <a:solidFill>
                            <a:schemeClr val="dk1"/>
                          </a:solidFill>
                        </a:rPr>
                        <a:t>0.63 (0.61, 0.64)</a:t>
                      </a:r>
                      <a:endParaRPr sz="600" u="none" strike="noStrike" cap="none"/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b="1" u="none" strike="noStrike" cap="non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</a:rPr>
                        <a:t>0.65  / 0.56</a:t>
                      </a:r>
                      <a:endParaRPr sz="600" b="1" u="none" strike="noStrike" cap="none">
                        <a:solidFill>
                          <a:srgbClr val="C0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4" name="Google Shape;104;p19"/>
          <p:cNvSpPr txBox="1"/>
          <p:nvPr/>
        </p:nvSpPr>
        <p:spPr>
          <a:xfrm>
            <a:off x="323025" y="1411350"/>
            <a:ext cx="84384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000" b="1" u="sng">
                <a:solidFill>
                  <a:schemeClr val="dk1"/>
                </a:solidFill>
              </a:rPr>
              <a:t>Table 2.</a:t>
            </a:r>
            <a:r>
              <a:rPr lang="en" sz="1000">
                <a:solidFill>
                  <a:schemeClr val="dk1"/>
                </a:solidFill>
              </a:rPr>
              <a:t> Comparative performance (AUCs) including clinical data for predicting multiple clinical outcomes in head and neck cancer across the original study results (</a:t>
            </a:r>
            <a:r>
              <a:rPr lang="en" sz="1000" b="1">
                <a:solidFill>
                  <a:schemeClr val="dk1"/>
                </a:solidFill>
              </a:rPr>
              <a:t>“</a:t>
            </a:r>
            <a:r>
              <a:rPr lang="en" sz="1000" b="1" i="1">
                <a:solidFill>
                  <a:schemeClr val="dk1"/>
                </a:solidFill>
              </a:rPr>
              <a:t>Paper Results”</a:t>
            </a:r>
            <a:r>
              <a:rPr lang="en" sz="1000">
                <a:solidFill>
                  <a:schemeClr val="dk1"/>
                </a:solidFill>
              </a:rPr>
              <a:t>), our reproduced CNN and ANN models (</a:t>
            </a:r>
            <a:r>
              <a:rPr lang="en" sz="1000" b="1">
                <a:solidFill>
                  <a:schemeClr val="dk1"/>
                </a:solidFill>
              </a:rPr>
              <a:t>“</a:t>
            </a:r>
            <a:r>
              <a:rPr lang="en" sz="1000" b="1" i="1">
                <a:solidFill>
                  <a:schemeClr val="dk1"/>
                </a:solidFill>
              </a:rPr>
              <a:t>Our Results”</a:t>
            </a:r>
            <a:r>
              <a:rPr lang="en" sz="1000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6308B527-C4AF-C73A-92FE-605A874A0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449" y="266700"/>
            <a:ext cx="591011" cy="582109"/>
          </a:xfrm>
          <a:prstGeom prst="rect">
            <a:avLst/>
          </a:prstGeom>
        </p:spPr>
      </p:pic>
      <p:pic>
        <p:nvPicPr>
          <p:cNvPr id="6" name="Picture 5" descr="A picture containing logo&#10;&#10;Description automatically generated">
            <a:extLst>
              <a:ext uri="{FF2B5EF4-FFF2-40B4-BE49-F238E27FC236}">
                <a16:creationId xmlns:a16="http://schemas.microsoft.com/office/drawing/2014/main" id="{99F8B7C0-67C1-5060-664B-31440BAED3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423" y="266700"/>
            <a:ext cx="587041" cy="5795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/>
          <p:nvPr/>
        </p:nvSpPr>
        <p:spPr>
          <a:xfrm>
            <a:off x="381000" y="323850"/>
            <a:ext cx="659682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rgbClr val="0D7377"/>
                </a:solidFill>
                <a:latin typeface="Arial"/>
                <a:ea typeface="Arial"/>
                <a:cs typeface="Arial"/>
                <a:sym typeface="Arial"/>
              </a:rPr>
              <a:t>CMC Dataset - Preprocessing Complete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20" descr="/tmp/rasterized-gradient-e740e6d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822275"/>
            <a:ext cx="8382000" cy="157326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/>
          <p:nvPr/>
        </p:nvSpPr>
        <p:spPr>
          <a:xfrm>
            <a:off x="491490" y="1012775"/>
            <a:ext cx="8161020" cy="21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Preprocessing Success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491490" y="1321296"/>
            <a:ext cx="8161020" cy="639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134</a:t>
            </a: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" sz="3600" b="1">
                <a:solidFill>
                  <a:srgbClr val="FFFFFF"/>
                </a:solidFill>
              </a:rPr>
              <a:t>138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491490" y="2018407"/>
            <a:ext cx="8161020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lang="en" sz="1050">
                <a:solidFill>
                  <a:srgbClr val="FFFFFF"/>
                </a:solidFill>
              </a:rPr>
              <a:t>7</a:t>
            </a:r>
            <a:r>
              <a:rPr lang="en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050">
                <a:solidFill>
                  <a:srgbClr val="FFFFFF"/>
                </a:solidFill>
              </a:rPr>
              <a:t>10</a:t>
            </a:r>
            <a:r>
              <a:rPr lang="en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% success rate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381000" y="2509838"/>
            <a:ext cx="4133850" cy="1931640"/>
          </a:xfrm>
          <a:prstGeom prst="roundRect">
            <a:avLst>
              <a:gd name="adj" fmla="val 3156"/>
            </a:avLst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495300" y="2624138"/>
            <a:ext cx="3983355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Pipeline Steps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495300" y="2841278"/>
            <a:ext cx="390525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noAutofit/>
          </a:bodyPr>
          <a:lstStyle/>
          <a:p>
            <a:pPr marL="76200" marR="0" lvl="0" indent="-85725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/>
              <a:buChar char="•"/>
            </a:pPr>
            <a:r>
              <a:rPr lang="en" sz="12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DICOM → NIFTI conversion</a:t>
            </a:r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76200" marR="0" lvl="0" indent="-85725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/>
              <a:buChar char="•"/>
            </a:pPr>
            <a:r>
              <a:rPr lang="en" sz="12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GTV structure identification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76200" marR="0" lvl="0" indent="-85725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/>
              <a:buChar char="•"/>
            </a:pPr>
            <a:r>
              <a:rPr lang="en" sz="12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RAS orientation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76200" marR="0" lvl="0" indent="-85725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/>
              <a:buChar char="•"/>
            </a:pPr>
            <a:r>
              <a:rPr lang="en" sz="1200" b="0" i="0" u="none" strike="noStrike" cap="none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Slice selection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76200" marR="0" lvl="0" indent="-85725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/>
              <a:buChar char="•"/>
            </a:pPr>
            <a:r>
              <a:rPr lang="en" sz="12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PNG generation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20"/>
          <p:cNvSpPr/>
          <p:nvPr/>
        </p:nvSpPr>
        <p:spPr>
          <a:xfrm>
            <a:off x="4629150" y="2662238"/>
            <a:ext cx="4133850" cy="1626840"/>
          </a:xfrm>
          <a:prstGeom prst="roundRect">
            <a:avLst>
              <a:gd name="adj" fmla="val 3747"/>
            </a:avLst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4743450" y="2776538"/>
            <a:ext cx="3983355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Quality Validation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4743450" y="2993678"/>
            <a:ext cx="3905250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noAutofit/>
          </a:bodyPr>
          <a:lstStyle/>
          <a:p>
            <a:pPr marL="76200" marR="0" lvl="0" indent="-85725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/>
              <a:buChar char="•"/>
            </a:pPr>
            <a:r>
              <a:rPr lang="en" sz="12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Tumor centering validated</a:t>
            </a:r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76200" marR="0" lvl="0" indent="-85725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/>
              <a:buChar char="•"/>
            </a:pPr>
            <a:r>
              <a:rPr lang="en" sz="12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Consistent HU windows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76200" marR="0" lvl="0" indent="-85725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/>
              <a:buChar char="•"/>
            </a:pPr>
            <a:r>
              <a:rPr lang="en" sz="1200" b="0" i="0" u="none" strike="noStrike" cap="none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Matches </a:t>
            </a:r>
            <a:r>
              <a:rPr lang="en" sz="1200" b="0" i="0" u="none" strike="noStrike" cap="none" dirty="0" err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Maastro</a:t>
            </a:r>
            <a:r>
              <a:rPr lang="en" sz="1200" b="0" i="0" u="none" strike="noStrike" cap="none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dimensions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76200" marR="0" lvl="0" indent="-85725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/>
              <a:buChar char="•"/>
            </a:pPr>
            <a:r>
              <a:rPr lang="en" sz="12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Ready for training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p20"/>
          <p:cNvSpPr/>
          <p:nvPr/>
        </p:nvSpPr>
        <p:spPr>
          <a:xfrm>
            <a:off x="381000" y="4555778"/>
            <a:ext cx="8382000" cy="337096"/>
          </a:xfrm>
          <a:prstGeom prst="roundRect">
            <a:avLst>
              <a:gd name="adj" fmla="val 18084"/>
            </a:avLst>
          </a:prstGeom>
          <a:solidFill>
            <a:srgbClr val="FFF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20"/>
          <p:cNvCxnSpPr/>
          <p:nvPr/>
        </p:nvCxnSpPr>
        <p:spPr>
          <a:xfrm>
            <a:off x="400050" y="4555778"/>
            <a:ext cx="0" cy="337096"/>
          </a:xfrm>
          <a:prstGeom prst="straightConnector1">
            <a:avLst/>
          </a:prstGeom>
          <a:noFill/>
          <a:ln w="38100" cap="flat" cmpd="sng">
            <a:solidFill>
              <a:srgbClr val="FF6B6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3" name="Google Shape;123;p20"/>
          <p:cNvSpPr/>
          <p:nvPr/>
        </p:nvSpPr>
        <p:spPr>
          <a:xfrm>
            <a:off x="514350" y="4651028"/>
            <a:ext cx="8316468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25"/>
              <a:buFont typeface="Arial"/>
              <a:buNone/>
            </a:pPr>
            <a:r>
              <a:rPr lang="en" sz="825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Failures (4):</a:t>
            </a:r>
            <a:r>
              <a:rPr lang="en" sz="825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Missing GTV structures (2) | Corrupted DICOM (2)</a:t>
            </a:r>
            <a:endParaRPr sz="8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43FE481D-B204-62B1-FD50-A3061848C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8521" y="123825"/>
            <a:ext cx="591011" cy="582109"/>
          </a:xfrm>
          <a:prstGeom prst="rect">
            <a:avLst/>
          </a:prstGeom>
        </p:spPr>
      </p:pic>
      <p:pic>
        <p:nvPicPr>
          <p:cNvPr id="6" name="Picture 5" descr="A picture containing logo&#10;&#10;Description automatically generated">
            <a:extLst>
              <a:ext uri="{FF2B5EF4-FFF2-40B4-BE49-F238E27FC236}">
                <a16:creationId xmlns:a16="http://schemas.microsoft.com/office/drawing/2014/main" id="{F79385E4-3D5B-793C-33F4-8F4C3D5C36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0495" y="123825"/>
            <a:ext cx="587041" cy="5795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/>
          <p:nvPr/>
        </p:nvSpPr>
        <p:spPr>
          <a:xfrm>
            <a:off x="381000" y="323850"/>
            <a:ext cx="468287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rgbClr val="0D7377"/>
                </a:solidFill>
                <a:latin typeface="Arial"/>
                <a:ea typeface="Arial"/>
                <a:cs typeface="Arial"/>
                <a:sym typeface="Arial"/>
              </a:rPr>
              <a:t>Work Completed - Summary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381000" y="1747838"/>
            <a:ext cx="8382000" cy="521940"/>
          </a:xfrm>
          <a:prstGeom prst="roundRect">
            <a:avLst>
              <a:gd name="adj" fmla="val 11680"/>
            </a:avLst>
          </a:prstGeom>
          <a:solidFill>
            <a:srgbClr val="E8F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21"/>
          <p:cNvCxnSpPr/>
          <p:nvPr/>
        </p:nvCxnSpPr>
        <p:spPr>
          <a:xfrm>
            <a:off x="400050" y="1747838"/>
            <a:ext cx="0" cy="521940"/>
          </a:xfrm>
          <a:prstGeom prst="straightConnector1">
            <a:avLst/>
          </a:prstGeom>
          <a:noFill/>
          <a:ln w="381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2" name="Google Shape;132;p21"/>
          <p:cNvSpPr/>
          <p:nvPr/>
        </p:nvSpPr>
        <p:spPr>
          <a:xfrm>
            <a:off x="514350" y="1843088"/>
            <a:ext cx="8316468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00"/>
              <a:buFont typeface="Arial"/>
              <a:buNone/>
            </a:pPr>
            <a:r>
              <a:rPr lang="en" sz="1100" b="1" i="0" u="none" strike="noStrike" cap="none" dirty="0">
                <a:solidFill>
                  <a:srgbClr val="0D7377"/>
                </a:solidFill>
                <a:latin typeface="Arial"/>
                <a:ea typeface="Arial"/>
                <a:cs typeface="Arial"/>
                <a:sym typeface="Arial"/>
              </a:rPr>
              <a:t>Phase 1: </a:t>
            </a:r>
            <a:r>
              <a:rPr lang="en" sz="1100" b="1" i="0" u="none" strike="noStrike" cap="none" dirty="0" err="1">
                <a:solidFill>
                  <a:srgbClr val="0D7377"/>
                </a:solidFill>
                <a:latin typeface="Arial"/>
                <a:ea typeface="Arial"/>
                <a:cs typeface="Arial"/>
                <a:sym typeface="Arial"/>
              </a:rPr>
              <a:t>Maastro</a:t>
            </a:r>
            <a:r>
              <a:rPr lang="en" sz="1100" b="1" i="0" u="none" strike="noStrike" cap="none" dirty="0">
                <a:solidFill>
                  <a:srgbClr val="0D7377"/>
                </a:solidFill>
                <a:latin typeface="Arial"/>
                <a:ea typeface="Arial"/>
                <a:cs typeface="Arial"/>
                <a:sym typeface="Arial"/>
              </a:rPr>
              <a:t> Reproduction</a:t>
            </a:r>
            <a:endParaRPr lang="en-US"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514350" y="2041178"/>
            <a:ext cx="8316468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50"/>
              <a:buFont typeface="Arial"/>
              <a:buNone/>
            </a:pPr>
            <a:r>
              <a:rPr lang="en" sz="1000" b="0" i="0" u="none" strike="noStrike" cap="none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Imaging-only and </a:t>
            </a:r>
            <a:r>
              <a:rPr lang="en" sz="1000" b="0" i="0" u="none" strike="noStrike" cap="none" dirty="0" err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imaging+clinical</a:t>
            </a:r>
            <a:r>
              <a:rPr lang="en" sz="1000" b="0" i="0" u="none" strike="noStrike" cap="none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models. Both CNN &amp; ANN. Cohort split &amp; 5-fold CV validated.</a:t>
            </a:r>
            <a:endParaRPr lang="en-US"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381000" y="2345978"/>
            <a:ext cx="8382000" cy="521940"/>
          </a:xfrm>
          <a:prstGeom prst="roundRect">
            <a:avLst>
              <a:gd name="adj" fmla="val 1168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21"/>
          <p:cNvCxnSpPr/>
          <p:nvPr/>
        </p:nvCxnSpPr>
        <p:spPr>
          <a:xfrm>
            <a:off x="400050" y="2345978"/>
            <a:ext cx="0" cy="521940"/>
          </a:xfrm>
          <a:prstGeom prst="straightConnector1">
            <a:avLst/>
          </a:prstGeom>
          <a:noFill/>
          <a:ln w="38100" cap="flat" cmpd="sng">
            <a:solidFill>
              <a:srgbClr val="FF6B6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6" name="Google Shape;136;p21"/>
          <p:cNvSpPr/>
          <p:nvPr/>
        </p:nvSpPr>
        <p:spPr>
          <a:xfrm>
            <a:off x="514350" y="2441228"/>
            <a:ext cx="8316468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Arial"/>
              <a:buNone/>
            </a:pPr>
            <a:r>
              <a:rPr lang="en" sz="1100" b="1" i="0" u="none" strike="noStrike" cap="non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Phase 2: </a:t>
            </a:r>
            <a:r>
              <a:rPr lang="en" sz="1100" b="1">
                <a:solidFill>
                  <a:srgbClr val="FF6B6B"/>
                </a:solidFill>
              </a:rPr>
              <a:t>CMC Preparation</a:t>
            </a:r>
            <a:endParaRPr lang="en-US"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" name="Google Shape;137;p21"/>
          <p:cNvSpPr/>
          <p:nvPr/>
        </p:nvSpPr>
        <p:spPr>
          <a:xfrm>
            <a:off x="514350" y="2639318"/>
            <a:ext cx="8316468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50"/>
              <a:buFont typeface="Arial"/>
              <a:buNone/>
            </a:pPr>
            <a:r>
              <a:rPr lang="en" sz="1000">
                <a:solidFill>
                  <a:srgbClr val="1A1A1A"/>
                </a:solidFill>
              </a:rPr>
              <a:t>Pipeline adapted. 292/296 patients processed. Ready for validation.</a:t>
            </a:r>
            <a:endParaRPr lang="en-US" sz="1000">
              <a:solidFill>
                <a:srgbClr val="1A1A1A"/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0A557E8-2A2E-9327-9483-45FA3F078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449" y="266700"/>
            <a:ext cx="591011" cy="582109"/>
          </a:xfrm>
          <a:prstGeom prst="rect">
            <a:avLst/>
          </a:prstGeom>
        </p:spPr>
      </p:pic>
      <p:pic>
        <p:nvPicPr>
          <p:cNvPr id="6" name="Picture 5" descr="A picture containing logo&#10;&#10;Description automatically generated">
            <a:extLst>
              <a:ext uri="{FF2B5EF4-FFF2-40B4-BE49-F238E27FC236}">
                <a16:creationId xmlns:a16="http://schemas.microsoft.com/office/drawing/2014/main" id="{DBD60319-322B-7CDF-3453-C6221CDB8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423" y="266700"/>
            <a:ext cx="587041" cy="5795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/>
          <p:nvPr/>
        </p:nvSpPr>
        <p:spPr>
          <a:xfrm>
            <a:off x="381000" y="323850"/>
            <a:ext cx="498405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rgbClr val="0D7377"/>
                </a:solidFill>
                <a:latin typeface="Arial"/>
                <a:ea typeface="Arial"/>
                <a:cs typeface="Arial"/>
                <a:sym typeface="Arial"/>
              </a:rPr>
              <a:t>Key Questions for Discussion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381000" y="1274564"/>
            <a:ext cx="8382000" cy="681930"/>
          </a:xfrm>
          <a:prstGeom prst="roundRect">
            <a:avLst>
              <a:gd name="adj" fmla="val 8939"/>
            </a:avLst>
          </a:prstGeom>
          <a:solidFill>
            <a:srgbClr val="FFF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22"/>
          <p:cNvCxnSpPr/>
          <p:nvPr/>
        </p:nvCxnSpPr>
        <p:spPr>
          <a:xfrm>
            <a:off x="400050" y="1274564"/>
            <a:ext cx="0" cy="681930"/>
          </a:xfrm>
          <a:prstGeom prst="straightConnector1">
            <a:avLst/>
          </a:prstGeom>
          <a:noFill/>
          <a:ln w="38100" cap="flat" cmpd="sng">
            <a:solidFill>
              <a:srgbClr val="FF6B6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6" name="Google Shape;146;p22"/>
          <p:cNvSpPr/>
          <p:nvPr/>
        </p:nvSpPr>
        <p:spPr>
          <a:xfrm>
            <a:off x="552450" y="1407914"/>
            <a:ext cx="8238744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lang="en" sz="105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1. Model Training Strategy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/>
          <p:nvPr/>
        </p:nvSpPr>
        <p:spPr>
          <a:xfrm>
            <a:off x="552450" y="1651695"/>
            <a:ext cx="823874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Should we train models from scratch or use model weights for re</a:t>
            </a:r>
            <a:r>
              <a:rPr lang="en" sz="900">
                <a:solidFill>
                  <a:srgbClr val="1A1A1A"/>
                </a:solidFill>
              </a:rPr>
              <a:t>producing work</a:t>
            </a:r>
            <a:r>
              <a:rPr lang="en" sz="9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2"/>
          <p:cNvSpPr/>
          <p:nvPr/>
        </p:nvSpPr>
        <p:spPr>
          <a:xfrm>
            <a:off x="381000" y="2051745"/>
            <a:ext cx="8382000" cy="681930"/>
          </a:xfrm>
          <a:prstGeom prst="roundRect">
            <a:avLst>
              <a:gd name="adj" fmla="val 8939"/>
            </a:avLst>
          </a:prstGeom>
          <a:solidFill>
            <a:srgbClr val="FFF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22"/>
          <p:cNvCxnSpPr/>
          <p:nvPr/>
        </p:nvCxnSpPr>
        <p:spPr>
          <a:xfrm>
            <a:off x="400050" y="2051745"/>
            <a:ext cx="0" cy="681930"/>
          </a:xfrm>
          <a:prstGeom prst="straightConnector1">
            <a:avLst/>
          </a:prstGeom>
          <a:noFill/>
          <a:ln w="38100" cap="flat" cmpd="sng">
            <a:solidFill>
              <a:srgbClr val="FF6B6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0" name="Google Shape;150;p22"/>
          <p:cNvSpPr/>
          <p:nvPr/>
        </p:nvSpPr>
        <p:spPr>
          <a:xfrm>
            <a:off x="552450" y="2185095"/>
            <a:ext cx="8238744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lang="en" sz="105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2. Cross-Validation Reporting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552450" y="2428875"/>
            <a:ext cx="823874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lang="en" sz="900">
                <a:solidFill>
                  <a:srgbClr val="1A1A1A"/>
                </a:solidFill>
              </a:rPr>
              <a:t>How exactly did you calculate the 5-fold CV results? Should we simply average the 5 AUC values and report range, or bootstrap within each fold?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2"/>
          <p:cNvSpPr/>
          <p:nvPr/>
        </p:nvSpPr>
        <p:spPr>
          <a:xfrm>
            <a:off x="381000" y="2914655"/>
            <a:ext cx="8382000" cy="681900"/>
          </a:xfrm>
          <a:prstGeom prst="roundRect">
            <a:avLst>
              <a:gd name="adj" fmla="val 8939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22"/>
          <p:cNvCxnSpPr/>
          <p:nvPr/>
        </p:nvCxnSpPr>
        <p:spPr>
          <a:xfrm>
            <a:off x="400050" y="2914655"/>
            <a:ext cx="0" cy="681900"/>
          </a:xfrm>
          <a:prstGeom prst="straightConnector1">
            <a:avLst/>
          </a:prstGeom>
          <a:noFill/>
          <a:ln w="381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4" name="Google Shape;154;p22"/>
          <p:cNvSpPr/>
          <p:nvPr/>
        </p:nvSpPr>
        <p:spPr>
          <a:xfrm>
            <a:off x="552450" y="3048005"/>
            <a:ext cx="8238600" cy="1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lang="en" sz="1050" b="1">
                <a:solidFill>
                  <a:srgbClr val="1A1A1A"/>
                </a:solidFill>
              </a:rPr>
              <a:t>3</a:t>
            </a:r>
            <a:r>
              <a:rPr lang="en" sz="105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. C</a:t>
            </a:r>
            <a:r>
              <a:rPr lang="en" sz="1050" b="1">
                <a:solidFill>
                  <a:srgbClr val="1A1A1A"/>
                </a:solidFill>
              </a:rPr>
              <a:t>MC</a:t>
            </a:r>
            <a:r>
              <a:rPr lang="en" sz="105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Data Integration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2"/>
          <p:cNvSpPr/>
          <p:nvPr/>
        </p:nvSpPr>
        <p:spPr>
          <a:xfrm>
            <a:off x="552450" y="3291786"/>
            <a:ext cx="82386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1A1A1A"/>
              </a:buClr>
              <a:buSzPts val="900"/>
            </a:pPr>
            <a:r>
              <a:rPr lang="en" sz="900">
                <a:solidFill>
                  <a:srgbClr val="1A1A1A"/>
                </a:solidFill>
              </a:rPr>
              <a:t>For external validation on CMC: Should we train from scratch or use a trained model? Any specific considerations?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2F1B02FA-95DB-4EC1-CDDA-8BBCAA4F4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449" y="266700"/>
            <a:ext cx="591011" cy="582109"/>
          </a:xfrm>
          <a:prstGeom prst="rect">
            <a:avLst/>
          </a:prstGeom>
        </p:spPr>
      </p:pic>
      <p:pic>
        <p:nvPicPr>
          <p:cNvPr id="6" name="Picture 5" descr="A picture containing logo&#10;&#10;Description automatically generated">
            <a:extLst>
              <a:ext uri="{FF2B5EF4-FFF2-40B4-BE49-F238E27FC236}">
                <a16:creationId xmlns:a16="http://schemas.microsoft.com/office/drawing/2014/main" id="{8426D531-7DAC-4943-A75D-C4C3AFF2D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423" y="266700"/>
            <a:ext cx="587041" cy="5795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32</cp:revision>
  <dcterms:modified xsi:type="dcterms:W3CDTF">2025-12-18T07:03:16Z</dcterms:modified>
</cp:coreProperties>
</file>